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spreadsheets/d/1IxP1wH9CJMFxqZI-ZSt8q-EcQtlF5mnP-btR4SKDWV4/edit?usp=shar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Collection - Fill Out This Form!</a:t>
            </a:r>
          </a:p>
        </p:txBody>
      </p:sp>
      <p:sp>
        <p:nvSpPr>
          <p:cNvPr id="3" name="Content Placeholder 2"/>
          <p:cNvSpPr>
            <a:spLocks noGrp="1"/>
          </p:cNvSpPr>
          <p:nvPr>
            <p:ph idx="1" sz="half"/>
          </p:nvPr>
        </p:nvSpPr>
        <p:spPr/>
        <p:txBody>
          <a:bodyPr/>
          <a:lstStyle/>
          <a:p>
            <a:pPr lvl="0" indent="0" marL="0">
              <a:buNone/>
            </a:pPr>
            <a:r>
              <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
        <p:nvSpPr>
          <p:cNvPr id="3" name="Content Placeholder 2"/>
          <p:cNvSpPr>
            <a:spLocks noGrp="1"/>
          </p:cNvSpPr>
          <p:nvPr>
            <p:ph idx="1"/>
          </p:nvPr>
        </p:nvSpPr>
        <p:spPr/>
        <p:txBody>
          <a:bodyPr/>
          <a:lstStyle/>
          <a:p>
            <a:pPr lvl="0" indent="0" marL="0">
              <a:buNone/>
            </a:pPr>
            <a:r>
              <a:rPr/>
              <a:t>We calculate similarity between students based on:</a:t>
            </a:r>
          </a:p>
          <a:p>
            <a:pPr lvl="0"/>
            <a:r>
              <a:rPr b="1"/>
              <a:t>(Numeric variables)</a:t>
            </a:r>
            <a:r>
              <a:rPr/>
              <a:t> (i.e., study hours per week, quiz/exam scores)</a:t>
            </a:r>
          </a:p>
          <a:p>
            <a:pPr lvl="1" indent="0" marL="342900">
              <a:buNone/>
            </a:pPr>
            <a:r>
              <a:rPr/>
              <a:t>– Measured by normalized numerical difference.</a:t>
            </a:r>
          </a:p>
          <a:p>
            <a:pPr lvl="0"/>
            <a:r>
              <a:rPr b="1"/>
              <a:t>(Categorical variables)</a:t>
            </a:r>
            <a:r>
              <a:rPr/>
              <a:t> (i.e, major, preferred study style, availability, learning preference).</a:t>
            </a:r>
          </a:p>
          <a:p>
            <a:pPr lvl="1" indent="0" marL="342900">
              <a:buNone/>
            </a:pPr>
            <a:r>
              <a:rPr/>
              <a:t>– Measured by 0 if they match, 1 if they differ. Each variable contributes equally or weighted if needed to an overall similarity score.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Distance continued…</a:t>
            </a:r>
          </a:p>
        </p:txBody>
      </p:sp>
      <p:sp>
        <p:nvSpPr>
          <p:cNvPr id="3" name="Content Placeholder 2"/>
          <p:cNvSpPr>
            <a:spLocks noGrp="1"/>
          </p:cNvSpPr>
          <p:nvPr>
            <p:ph idx="1"/>
          </p:nvPr>
        </p:nvSpPr>
        <p:spPr/>
        <p:txBody>
          <a:bodyPr/>
          <a:lstStyle/>
          <a:p>
            <a:pPr lvl="0" indent="0" marL="0">
              <a:buNone/>
            </a:pPr>
            <a:r>
              <a:rPr b="1"/>
              <a:t>(Final Distance Score)</a:t>
            </a:r>
            <a:r>
              <a:rPr/>
              <a:t> Distance ranges from 0 to 1.</a:t>
            </a:r>
          </a:p>
          <a:p>
            <a:pPr lvl="0"/>
            <a:r>
              <a:rPr/>
              <a:t>0 = Very similar students</a:t>
            </a:r>
          </a:p>
          <a:p>
            <a:pPr lvl="0"/>
            <a:r>
              <a:rPr/>
              <a:t>1 = Very different students</a:t>
            </a:r>
          </a:p>
          <a:p>
            <a:pPr lvl="0" indent="0" marL="0">
              <a:buNone/>
            </a:pPr>
            <a:r>
              <a:rPr/>
              <a:t>Students with </a:t>
            </a:r>
            <a:r>
              <a:rPr b="1"/>
              <a:t>(smaller distances)</a:t>
            </a:r>
            <a:r>
              <a:rPr/>
              <a:t> are grouped together in the recommender system to create balanced, compatible study groups.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
        <p:nvSpPr>
          <p:cNvPr id="3" name="Content Placeholder 2"/>
          <p:cNvSpPr>
            <a:spLocks noGrp="1"/>
          </p:cNvSpPr>
          <p:nvPr>
            <p:ph idx="1" sz="half"/>
          </p:nvPr>
        </p:nvSpPr>
        <p:spPr/>
        <p:txBody>
          <a:bodyPr/>
          <a:lstStyle/>
          <a:p>
            <a:pPr lvl="0" indent="0" marL="0">
              <a:buNone/>
            </a:pPr>
            <a:r>
              <a:rPr/>
              <a:t>Complete linkage describes the metric we use to decide the merging of clusters. In particular, we merge the minimum distance created by the farthest points within two clusters, which is found by comparing the distances from every pair of points between the clusters.</a:t>
            </a:r>
          </a:p>
        </p:txBody>
      </p:sp>
      <p:pic>
        <p:nvPicPr>
          <p:cNvPr descr="complete_linkage.png" id="0" name="Picture 1"/>
          <p:cNvPicPr>
            <a:picLocks noGrp="1" noChangeAspect="1"/>
          </p:cNvPicPr>
          <p:nvPr/>
        </p:nvPicPr>
        <p:blipFill>
          <a:blip r:embed="rId2"/>
          <a:stretch>
            <a:fillRect/>
          </a:stretch>
        </p:blipFill>
        <p:spPr bwMode="auto">
          <a:xfrm>
            <a:off x="4648200" y="1638300"/>
            <a:ext cx="4038600" cy="1981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Visualization of Complete Linkage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
        <p:nvSpPr>
          <p:cNvPr id="3" name="Content Placeholder 2"/>
          <p:cNvSpPr>
            <a:spLocks noGrp="1"/>
          </p:cNvSpPr>
          <p:nvPr>
            <p:ph idx="1"/>
          </p:nvPr>
        </p:nvSpPr>
        <p:spPr/>
        <p:txBody>
          <a:bodyPr/>
          <a:lstStyle/>
          <a:p>
            <a:pPr lvl="0" indent="0" marL="0">
              <a:buNone/>
            </a:pPr>
            <a:r>
              <a:rPr>
                <a:hlinkClick r:id="rId2"/>
              </a:rPr>
              <a:t>Open live dataset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pic>
        <p:nvPicPr>
          <p:cNvPr descr="presentation_files/figure-pptx/cell-13-output-1.png" id="0" name="Picture 1"/>
          <p:cNvPicPr>
            <a:picLocks noGrp="1" noChangeAspect="1"/>
          </p:cNvPicPr>
          <p:nvPr/>
        </p:nvPicPr>
        <p:blipFill>
          <a:blip r:embed="rId2"/>
          <a:stretch>
            <a:fillRect/>
          </a:stretch>
        </p:blipFill>
        <p:spPr bwMode="auto">
          <a:xfrm>
            <a:off x="2540000" y="1193800"/>
            <a:ext cx="40640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Study Group Sizes</a:t>
            </a:r>
          </a:p>
        </p:txBody>
      </p:sp>
      <p:sp>
        <p:nvSpPr>
          <p:cNvPr id="3" name="Content Placeholder 2"/>
          <p:cNvSpPr>
            <a:spLocks noGrp="1"/>
          </p:cNvSpPr>
          <p:nvPr>
            <p:ph idx="1"/>
          </p:nvPr>
        </p:nvSpPr>
        <p:spPr/>
        <p:txBody>
          <a:bodyPr/>
          <a:lstStyle/>
          <a:p>
            <a:pPr lvl="0" indent="0">
              <a:buNone/>
            </a:pPr>
            <a:r>
              <a:rPr>
                <a:latin typeface="Courier"/>
              </a:rPr>
              <a:t>clusters
0    1
1    1
2    1
3    1
dtype: int64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username</a:t>
                      </a:r>
                    </a:p>
                  </a:txBody>
                  <a:tcPr/>
                </a:tc>
              </a:tr>
              <a:tr h="0">
                <a:tc>
                  <a:txBody>
                    <a:bodyPr/>
                    <a:lstStyle/>
                    <a:p>
                      <a:pPr lvl="0" indent="0" marL="0">
                        <a:buNone/>
                      </a:pPr>
                      <a:r>
                        <a:rPr/>
                        <a:t>group</a:t>
                      </a:r>
                    </a:p>
                  </a:txBody>
                </a:tc>
                <a:tc>
                  <a:txBody>
                    <a:bodyPr/>
                    <a:lstStyle/>
                    <a:p>
                      <a:endParaRPr/>
                    </a:p>
                  </a:txBody>
                </a:tc>
              </a:tr>
              <a:tr h="0">
                <a:tc>
                  <a:txBody>
                    <a:bodyPr/>
                    <a:lstStyle/>
                    <a:p>
                      <a:pPr lvl="0" indent="0" marL="0">
                        <a:buNone/>
                      </a:pPr>
                      <a:r>
                        <a:rPr/>
                        <a:t>0</a:t>
                      </a:r>
                    </a:p>
                  </a:txBody>
                </a:tc>
                <a:tc>
                  <a:txBody>
                    <a:bodyPr/>
                    <a:lstStyle/>
                    <a:p>
                      <a:pPr lvl="0" indent="0" marL="0">
                        <a:buNone/>
                      </a:pPr>
                      <a:r>
                        <a:rPr/>
                        <a:t>[rta21]</a:t>
                      </a:r>
                    </a:p>
                  </a:txBody>
                </a:tc>
              </a:tr>
              <a:tr h="0">
                <a:tc>
                  <a:txBody>
                    <a:bodyPr/>
                    <a:lstStyle/>
                    <a:p>
                      <a:pPr lvl="0" indent="0" marL="0">
                        <a:buNone/>
                      </a:pPr>
                      <a:r>
                        <a:rPr/>
                        <a:t>1</a:t>
                      </a:r>
                    </a:p>
                  </a:txBody>
                </a:tc>
                <a:tc>
                  <a:txBody>
                    <a:bodyPr/>
                    <a:lstStyle/>
                    <a:p>
                      <a:pPr lvl="0" indent="0" marL="0">
                        <a:buNone/>
                      </a:pPr>
                      <a:r>
                        <a:rPr/>
                        <a:t>[pgr12]</a:t>
                      </a:r>
                    </a:p>
                  </a:txBody>
                </a:tc>
              </a:tr>
              <a:tr h="0">
                <a:tc>
                  <a:txBody>
                    <a:bodyPr/>
                    <a:lstStyle/>
                    <a:p>
                      <a:pPr lvl="0" indent="0" marL="0">
                        <a:buNone/>
                      </a:pPr>
                      <a:r>
                        <a:rPr/>
                        <a:t>2</a:t>
                      </a:r>
                    </a:p>
                  </a:txBody>
                </a:tc>
                <a:tc>
                  <a:txBody>
                    <a:bodyPr/>
                    <a:lstStyle/>
                    <a:p>
                      <a:pPr lvl="0" indent="0" marL="0">
                        <a:buNone/>
                      </a:pPr>
                      <a:r>
                        <a:rPr/>
                        <a:t>[jna45]</a:t>
                      </a:r>
                    </a:p>
                  </a:txBody>
                </a:tc>
              </a:tr>
              <a:tr h="0">
                <a:tc>
                  <a:txBody>
                    <a:bodyPr/>
                    <a:lstStyle/>
                    <a:p>
                      <a:pPr lvl="0" indent="0" marL="0">
                        <a:buNone/>
                      </a:pPr>
                      <a:r>
                        <a:rPr/>
                        <a:t>3</a:t>
                      </a:r>
                    </a:p>
                  </a:txBody>
                </a:tc>
                <a:tc>
                  <a:txBody>
                    <a:bodyPr/>
                    <a:lstStyle/>
                    <a:p>
                      <a:pPr lvl="0" indent="0" marL="0">
                        <a:buNone/>
                      </a:pPr>
                      <a:r>
                        <a:rPr/>
                        <a:t>[ks612]</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Form (from Presenting Team)</a:t>
            </a:r>
          </a:p>
        </p:txBody>
      </p:sp>
      <p:sp>
        <p:nvSpPr>
          <p:cNvPr id="3" name="Content Placeholder 2"/>
          <p:cNvSpPr>
            <a:spLocks noGrp="1"/>
          </p:cNvSpPr>
          <p:nvPr>
            <p:ph idx="1" sz="half"/>
          </p:nvPr>
        </p:nvSpPr>
        <p:spPr/>
        <p:txBody>
          <a:bodyPr/>
          <a:lstStyle/>
          <a:p>
            <a:pPr lvl="0" indent="0" marL="0">
              <a:buNone/>
            </a:pPr>
            <a:r>
              <a:rPr/>
              <a:t>Feedback from the evaluation form will be anonymous, however the results will help us all improve future iterations of our model generalized to all students. ** Ask Rosanna if she wants to share the results to them later on **</a:t>
            </a:r>
          </a:p>
        </p:txBody>
      </p:sp>
      <p:pic>
        <p:nvPicPr>
          <p:cNvPr descr="presentation_files/figure-pptx/cell-16-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Project Coordinator</a:t>
            </a:r>
          </a:p>
          <a:p>
            <a:pPr lvl="1"/>
            <a:r>
              <a:rPr/>
              <a:t>Dean Callahan - Technical Lead</a:t>
            </a:r>
          </a:p>
          <a:p>
            <a:pPr lvl="1"/>
            <a:r>
              <a:rPr/>
              <a:t>Jonathan Juarez - Data Scientist</a:t>
            </a:r>
          </a:p>
          <a:p>
            <a:pPr lvl="1"/>
            <a:r>
              <a:rPr/>
              <a:t>Devon Walker - Data Scientist</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2026-02-25T00:33:04Z</dcterms:created>
  <dcterms:modified xsi:type="dcterms:W3CDTF">2026-02-25T00:33:04Z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