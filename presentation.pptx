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spreadsheets/d/1IxP1wH9CJMFxqZI-ZSt8q-EcQtlF5mnP-btR4SKDWV4/edit?usp=shar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a:r>
              <a:rPr b="1"/>
              <a:t>(Numeric variables)</a:t>
            </a:r>
            <a:r>
              <a:rPr/>
              <a:t> (i.e., study hours per week, quiz/exam scores)</a:t>
            </a:r>
          </a:p>
          <a:p>
            <a:pPr lvl="1" indent="0" marL="342900">
              <a:buNone/>
            </a:pPr>
            <a:r>
              <a:rPr/>
              <a:t>– Measured by normalized numerical difference.</a:t>
            </a:r>
          </a:p>
          <a:p>
            <a:pPr lvl="0"/>
            <a:r>
              <a:rPr b="1"/>
              <a:t>(Categorical variables)</a:t>
            </a:r>
            <a:r>
              <a:rPr/>
              <a:t> (i.e, major, preferred study style, availability, learning preference).</a:t>
            </a:r>
          </a:p>
          <a:p>
            <a:pPr lvl="1" indent="0" marL="342900">
              <a:buNone/>
            </a:pPr>
            <a:r>
              <a:rPr/>
              <a:t>– Measured by 0 if they match, 1 if they differ. Each variable contributes equally or weighted if needed to an overall similarity score.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Distance continued…</a:t>
            </a:r>
          </a:p>
        </p:txBody>
      </p:sp>
      <p:sp>
        <p:nvSpPr>
          <p:cNvPr id="3" name="Content Placeholder 2"/>
          <p:cNvSpPr>
            <a:spLocks noGrp="1"/>
          </p:cNvSpPr>
          <p:nvPr>
            <p:ph idx="1"/>
          </p:nvPr>
        </p:nvSpPr>
        <p:spPr/>
        <p:txBody>
          <a:bodyPr/>
          <a:lstStyle/>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
        <p:nvSpPr>
          <p:cNvPr id="3" name="Content Placeholder 2"/>
          <p:cNvSpPr>
            <a:spLocks noGrp="1"/>
          </p:cNvSpPr>
          <p:nvPr>
            <p:ph idx="1"/>
          </p:nvPr>
        </p:nvSpPr>
        <p:spPr/>
        <p:txBody>
          <a:bodyPr/>
          <a:lstStyle/>
          <a:p>
            <a:pPr lvl="0" indent="0" marL="0">
              <a:buNone/>
            </a:pPr>
            <a:r>
              <a:rPr>
                <a:hlinkClick r:id="rId2"/>
              </a:rPr>
              <a:t>Open live dataset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pic>
        <p:nvPicPr>
          <p:cNvPr descr="presentation_files/figure-pptx/cell-13-output-1.png" id="0" name="Picture 1"/>
          <p:cNvPicPr>
            <a:picLocks noGrp="1" noChangeAspect="1"/>
          </p:cNvPicPr>
          <p:nvPr/>
        </p:nvPicPr>
        <p:blipFill>
          <a:blip r:embed="rId2"/>
          <a:stretch>
            <a:fillRect/>
          </a:stretch>
        </p:blipFill>
        <p:spPr bwMode="auto">
          <a:xfrm>
            <a:off x="2540000" y="1193800"/>
            <a:ext cx="40640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 Group Sizes</a:t>
            </a:r>
          </a:p>
        </p:txBody>
      </p:sp>
      <p:pic>
        <p:nvPicPr>
          <p:cNvPr descr="presentation_files/figure-pptx/cell-14-output-1.png" id="0" name="Picture 1"/>
          <p:cNvPicPr>
            <a:picLocks noGrp="1" noChangeAspect="1"/>
          </p:cNvPicPr>
          <p:nvPr/>
        </p:nvPicPr>
        <p:blipFill>
          <a:blip r:embed="rId2"/>
          <a:stretch>
            <a:fillRect/>
          </a:stretch>
        </p:blipFill>
        <p:spPr bwMode="auto">
          <a:xfrm>
            <a:off x="1943100" y="1193800"/>
            <a:ext cx="52705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username</a:t>
                      </a:r>
                    </a:p>
                  </a:txBody>
                  <a:tcPr/>
                </a:tc>
              </a:tr>
              <a:tr h="0">
                <a:tc>
                  <a:txBody>
                    <a:bodyPr/>
                    <a:lstStyle/>
                    <a:p>
                      <a:pPr lvl="0" indent="0" marL="0">
                        <a:buNone/>
                      </a:pPr>
                      <a:r>
                        <a:rPr/>
                        <a:t>group</a:t>
                      </a:r>
                    </a:p>
                  </a:txBody>
                </a:tc>
                <a:tc>
                  <a:txBody>
                    <a:bodyPr/>
                    <a:lstStyle/>
                    <a:p>
                      <a:endParaRPr/>
                    </a:p>
                  </a:txBody>
                </a:tc>
              </a:tr>
              <a:tr h="0">
                <a:tc>
                  <a:txBody>
                    <a:bodyPr/>
                    <a:lstStyle/>
                    <a:p>
                      <a:pPr lvl="0" indent="0" marL="0">
                        <a:buNone/>
                      </a:pPr>
                      <a:r>
                        <a:rPr/>
                        <a:t>0</a:t>
                      </a:r>
                    </a:p>
                  </a:txBody>
                </a:tc>
                <a:tc>
                  <a:txBody>
                    <a:bodyPr/>
                    <a:lstStyle/>
                    <a:p>
                      <a:pPr lvl="0" indent="0" marL="0">
                        <a:buNone/>
                      </a:pPr>
                      <a:r>
                        <a:rPr/>
                        <a:t>[rta21]</a:t>
                      </a:r>
                    </a:p>
                  </a:txBody>
                </a:tc>
              </a:tr>
              <a:tr h="0">
                <a:tc>
                  <a:txBody>
                    <a:bodyPr/>
                    <a:lstStyle/>
                    <a:p>
                      <a:pPr lvl="0" indent="0" marL="0">
                        <a:buNone/>
                      </a:pPr>
                      <a:r>
                        <a:rPr/>
                        <a:t>1</a:t>
                      </a:r>
                    </a:p>
                  </a:txBody>
                </a:tc>
                <a:tc>
                  <a:txBody>
                    <a:bodyPr/>
                    <a:lstStyle/>
                    <a:p>
                      <a:pPr lvl="0" indent="0" marL="0">
                        <a:buNone/>
                      </a:pPr>
                      <a:r>
                        <a:rPr/>
                        <a:t>[pgr12]</a:t>
                      </a:r>
                    </a:p>
                  </a:txBody>
                </a:tc>
              </a:tr>
              <a:tr h="0">
                <a:tc>
                  <a:txBody>
                    <a:bodyPr/>
                    <a:lstStyle/>
                    <a:p>
                      <a:pPr lvl="0" indent="0" marL="0">
                        <a:buNone/>
                      </a:pPr>
                      <a:r>
                        <a:rPr/>
                        <a:t>2</a:t>
                      </a:r>
                    </a:p>
                  </a:txBody>
                </a:tc>
                <a:tc>
                  <a:txBody>
                    <a:bodyPr/>
                    <a:lstStyle/>
                    <a:p>
                      <a:pPr lvl="0" indent="0" marL="0">
                        <a:buNone/>
                      </a:pPr>
                      <a:r>
                        <a:rPr/>
                        <a:t>[jna45]</a:t>
                      </a:r>
                    </a:p>
                  </a:txBody>
                </a:tc>
              </a:tr>
              <a:tr h="0">
                <a:tc>
                  <a:txBody>
                    <a:bodyPr/>
                    <a:lstStyle/>
                    <a:p>
                      <a:pPr lvl="0" indent="0" marL="0">
                        <a:buNone/>
                      </a:pPr>
                      <a:r>
                        <a:rPr/>
                        <a:t>3</a:t>
                      </a:r>
                    </a:p>
                  </a:txBody>
                </a:tc>
                <a:tc>
                  <a:txBody>
                    <a:bodyPr/>
                    <a:lstStyle/>
                    <a:p>
                      <a:pPr lvl="0" indent="0" marL="0">
                        <a:buNone/>
                      </a:pPr>
                      <a:r>
                        <a:rPr/>
                        <a:t>[ks612]</a:t>
                      </a:r>
                    </a:p>
                  </a:txBody>
                </a:tc>
              </a:tr>
              <a:tr h="0">
                <a:tc>
                  <a:txBody>
                    <a:bodyPr/>
                    <a:lstStyle/>
                    <a:p>
                      <a:pPr lvl="0" indent="0" marL="0">
                        <a:buNone/>
                      </a:pPr>
                      <a:r>
                        <a:rPr/>
                        <a:t>4</a:t>
                      </a:r>
                    </a:p>
                  </a:txBody>
                </a:tc>
                <a:tc>
                  <a:txBody>
                    <a:bodyPr/>
                    <a:lstStyle/>
                    <a:p>
                      <a:pPr lvl="0" indent="0" marL="0">
                        <a:buNone/>
                      </a:pPr>
                      <a:r>
                        <a:rPr/>
                        <a:t>[dpc43]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pic>
        <p:nvPicPr>
          <p:cNvPr descr="presentation_files/figure-pptx/cell-16-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2026-02-27T00:43:21Z</dcterms:created>
  <dcterms:modified xsi:type="dcterms:W3CDTF">2026-02-27T00:43:21Z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