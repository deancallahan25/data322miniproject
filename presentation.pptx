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5" Type="http://schemas.openxmlformats.org/officeDocument/2006/relationships/viewProps" Target="viewProps.xml" /><Relationship Id="rId14" Type="http://schemas.openxmlformats.org/officeDocument/2006/relationships/presProps" Target="presProps.xml" /><Relationship Id="rId1" Type="http://schemas.openxmlformats.org/officeDocument/2006/relationships/slideMaster" Target="slideMasters/slideMaster1.xml" /><Relationship Id="rId17" Type="http://schemas.openxmlformats.org/officeDocument/2006/relationships/tableStyles" Target="tableStyles.xml" /><Relationship Id="rId16"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1.png"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2.png"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3.png"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4.png"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Study Group Recommender with Machine Learning</a:t>
            </a:r>
          </a:p>
        </p:txBody>
      </p:sp>
      <p:sp>
        <p:nvSpPr>
          <p:cNvPr id="3" name="Subtitle 2"/>
          <p:cNvSpPr>
            <a:spLocks noGrp="1"/>
          </p:cNvSpPr>
          <p:nvPr>
            <p:ph idx="1" type="subTitle"/>
          </p:nvPr>
        </p:nvSpPr>
        <p:spPr>
          <a:xfrm>
            <a:off x="1371600" y="2914650"/>
            <a:ext cx="6400800" cy="1314450"/>
          </a:xfrm>
        </p:spPr>
        <p:txBody>
          <a:bodyPr/>
          <a:lstStyle/>
          <a:p>
            <a:pPr lvl="0" indent="0" marL="0">
              <a:buNone/>
            </a:pPr>
            <a:r>
              <a:rPr/>
              <a:t>Developed: by class of DATA322 Presented: by Team Machines</a:t>
            </a:r>
            <a:br/>
            <a:b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Problem Overview</a:t>
            </a:r>
          </a:p>
        </p:txBody>
      </p:sp>
      <p:sp>
        <p:nvSpPr>
          <p:cNvPr id="3" name="Content Placeholder 2"/>
          <p:cNvSpPr>
            <a:spLocks noGrp="1"/>
          </p:cNvSpPr>
          <p:nvPr>
            <p:ph idx="1"/>
          </p:nvPr>
        </p:nvSpPr>
        <p:spPr/>
        <p:txBody>
          <a:bodyPr/>
          <a:lstStyle/>
          <a:p>
            <a:pPr lvl="0" indent="0" marL="0">
              <a:buNone/>
            </a:pPr>
            <a:r>
              <a:rPr/>
              <a:t>Many students struggle with understanding course material, staying accountable, and performing well on exams. While study groups can feel intimidating, research shows they significantly improve comprehension, retention, and exam scores. Now the big question is: How do we create effective study groups that maximize learning, accountability, and confidence while minimizing the fear of participation?</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Data Collection - Fill Out This Form!</a:t>
            </a:r>
          </a:p>
        </p:txBody>
      </p:sp>
      <p:sp>
        <p:nvSpPr>
          <p:cNvPr id="3" name="Content Placeholder 2"/>
          <p:cNvSpPr>
            <a:spLocks noGrp="1"/>
          </p:cNvSpPr>
          <p:nvPr>
            <p:ph idx="1" sz="half"/>
          </p:nvPr>
        </p:nvSpPr>
        <p:spPr/>
        <p:txBody>
          <a:bodyPr/>
          <a:lstStyle/>
          <a:p>
            <a:pPr lvl="0" indent="0" marL="0">
              <a:buNone/>
            </a:pPr>
            <a:r>
              <a:rPr/>
              <a:t>First, please fill out our short survey, which we’ll use to recommend everyone’s study groups! While you are all filling that out, we’ll begin talking about the methods used in our hierarchical clustering algorithm. You are all your own cluster to start, but will begin merging together one by one based on similarity and differences in responses!</a:t>
            </a:r>
          </a:p>
        </p:txBody>
      </p:sp>
      <p:pic>
        <p:nvPicPr>
          <p:cNvPr descr="presentation_files/figure-pptx/cell-3-output-1.png" id="0" name="Picture 1"/>
          <p:cNvPicPr>
            <a:picLocks noGrp="1" noChangeAspect="1"/>
          </p:cNvPicPr>
          <p:nvPr/>
        </p:nvPicPr>
        <p:blipFill>
          <a:blip r:embed="rId2"/>
          <a:stretch>
            <a:fillRect/>
          </a:stretch>
        </p:blipFill>
        <p:spPr bwMode="auto">
          <a:xfrm>
            <a:off x="4978400" y="1193800"/>
            <a:ext cx="3390900" cy="3390900"/>
          </a:xfrm>
          <a:prstGeom prst="rect">
            <a:avLst/>
          </a:prstGeom>
          <a:noFill/>
          <a:ln w="9525">
            <a:noFill/>
            <a:headEnd/>
            <a:tailEnd/>
          </a:ln>
        </p:spPr>
      </p:pic>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Gower’s for Distances Between Clusters</a:t>
            </a:r>
          </a:p>
        </p:txBody>
      </p:sp>
      <p:pic>
        <p:nvPicPr>
          <p:cNvPr descr="gowers_method.png" id="0" name="Picture 1"/>
          <p:cNvPicPr>
            <a:picLocks noGrp="1" noChangeAspect="1"/>
          </p:cNvPicPr>
          <p:nvPr/>
        </p:nvPicPr>
        <p:blipFill>
          <a:blip r:embed="rId2"/>
          <a:stretch>
            <a:fillRect/>
          </a:stretch>
        </p:blipFill>
        <p:spPr bwMode="auto">
          <a:xfrm>
            <a:off x="2425700" y="1193800"/>
            <a:ext cx="4305300" cy="2882900"/>
          </a:xfrm>
          <a:prstGeom prst="rect">
            <a:avLst/>
          </a:prstGeom>
          <a:noFill/>
          <a:ln w="9525">
            <a:noFill/>
            <a:headEnd/>
            <a:tailEnd/>
          </a:ln>
        </p:spPr>
      </p:pic>
      <p:sp>
        <p:nvSpPr>
          <p:cNvPr id="1" name="TextBox 3"/>
          <p:cNvSpPr txBox="1"/>
          <p:nvPr/>
        </p:nvSpPr>
        <p:spPr>
          <a:xfrm>
            <a:off x="457200" y="4076700"/>
            <a:ext cx="8229600" cy="508000"/>
          </a:xfrm>
          <a:prstGeom prst="rect">
            <a:avLst/>
          </a:prstGeom>
          <a:noFill/>
        </p:spPr>
        <p:txBody>
          <a:bodyPr/>
          <a:lstStyle/>
          <a:p>
            <a:pPr lvl="0" indent="0" marL="0" algn="ctr">
              <a:buNone/>
            </a:pPr>
            <a:r>
              <a:rPr/>
              <a:t>Gower’s Method</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How does our distance work between students?</a:t>
            </a:r>
          </a:p>
        </p:txBody>
      </p:sp>
      <p:sp>
        <p:nvSpPr>
          <p:cNvPr id="3" name="Content Placeholder 2"/>
          <p:cNvSpPr>
            <a:spLocks noGrp="1"/>
          </p:cNvSpPr>
          <p:nvPr>
            <p:ph idx="1"/>
          </p:nvPr>
        </p:nvSpPr>
        <p:spPr/>
        <p:txBody>
          <a:bodyPr/>
          <a:lstStyle/>
          <a:p>
            <a:pPr lvl="0" indent="0" marL="0">
              <a:buNone/>
            </a:pPr>
            <a:r>
              <a:rPr/>
              <a:t>We calculate similarity between students based on:</a:t>
            </a:r>
          </a:p>
          <a:p>
            <a:pPr lvl="0" indent="0" marL="0">
              <a:buNone/>
            </a:pPr>
            <a:r>
              <a:rPr b="1"/>
              <a:t>(Numeric variables)</a:t>
            </a:r>
            <a:r>
              <a:rPr/>
              <a:t> (i.e., study hours per week, quiz/exam scores)</a:t>
            </a:r>
          </a:p>
          <a:p>
            <a:pPr lvl="0"/>
            <a:r>
              <a:rPr/>
              <a:t>Measured by normalized numerical difference.</a:t>
            </a:r>
          </a:p>
          <a:p>
            <a:pPr lvl="0" indent="0" marL="0">
              <a:buNone/>
            </a:pPr>
            <a:r>
              <a:rPr b="1"/>
              <a:t>(Categorical variables)</a:t>
            </a:r>
            <a:r>
              <a:rPr/>
              <a:t> (i.e, major, preferred study style, availability, learning preference).</a:t>
            </a:r>
          </a:p>
          <a:p>
            <a:pPr lvl="0"/>
            <a:r>
              <a:rPr/>
              <a:t>Measured by 0 if they match, 1 if they differ. Each variable contributes equally or weighted if needed to an overall similarity score.</a:t>
            </a:r>
          </a:p>
          <a:p>
            <a:pPr lvl="0" indent="0" marL="0">
              <a:buNone/>
            </a:pPr>
            <a:r>
              <a:rPr b="1"/>
              <a:t>(Final Distance Score)</a:t>
            </a:r>
            <a:r>
              <a:rPr/>
              <a:t> Distance ranges from 0 to 1.</a:t>
            </a:r>
          </a:p>
          <a:p>
            <a:pPr lvl="0"/>
            <a:r>
              <a:rPr/>
              <a:t>0 = Very similar students</a:t>
            </a:r>
          </a:p>
          <a:p>
            <a:pPr lvl="0"/>
            <a:r>
              <a:rPr/>
              <a:t>1 = Very different students</a:t>
            </a:r>
          </a:p>
          <a:p>
            <a:pPr lvl="0" indent="0" marL="0">
              <a:buNone/>
            </a:pPr>
            <a:r>
              <a:rPr/>
              <a:t>Students with </a:t>
            </a:r>
            <a:r>
              <a:rPr b="1"/>
              <a:t>(smaller distances)</a:t>
            </a:r>
            <a:r>
              <a:rPr/>
              <a:t> are grouped together in the recommender system to create balanced, compatible study groups.</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Complete Linkage for Merging Clusters</a:t>
            </a:r>
          </a:p>
        </p:txBody>
      </p:sp>
      <p:sp>
        <p:nvSpPr>
          <p:cNvPr id="3" name="Content Placeholder 2"/>
          <p:cNvSpPr>
            <a:spLocks noGrp="1"/>
          </p:cNvSpPr>
          <p:nvPr>
            <p:ph idx="1" sz="half"/>
          </p:nvPr>
        </p:nvSpPr>
        <p:spPr/>
        <p:txBody>
          <a:bodyPr/>
          <a:lstStyle/>
          <a:p>
            <a:pPr lvl="0" indent="0" marL="0">
              <a:buNone/>
            </a:pPr>
            <a:r>
              <a:rPr/>
              <a:t>Complete linkage describes the metric we use to decide the merging of clusters. In particular, we merge the minimum distance created by the farthest points within two clusters, which is found by comparing the distances from every pair of points between the clusters.</a:t>
            </a:r>
          </a:p>
        </p:txBody>
      </p:sp>
      <p:pic>
        <p:nvPicPr>
          <p:cNvPr descr="complete_linkage.png" id="0" name="Picture 1"/>
          <p:cNvPicPr>
            <a:picLocks noGrp="1" noChangeAspect="1"/>
          </p:cNvPicPr>
          <p:nvPr/>
        </p:nvPicPr>
        <p:blipFill>
          <a:blip r:embed="rId2"/>
          <a:stretch>
            <a:fillRect/>
          </a:stretch>
        </p:blipFill>
        <p:spPr bwMode="auto">
          <a:xfrm>
            <a:off x="4648200" y="1638300"/>
            <a:ext cx="4038600" cy="1981200"/>
          </a:xfrm>
          <a:prstGeom prst="rect">
            <a:avLst/>
          </a:prstGeom>
          <a:noFill/>
          <a:ln w="9525">
            <a:noFill/>
            <a:headEnd/>
            <a:tailEnd/>
          </a:ln>
        </p:spPr>
      </p:pic>
      <p:sp>
        <p:nvSpPr>
          <p:cNvPr id="1" name="TextBox 3"/>
          <p:cNvSpPr txBox="1"/>
          <p:nvPr/>
        </p:nvSpPr>
        <p:spPr>
          <a:xfrm>
            <a:off x="4648200" y="4076700"/>
            <a:ext cx="4038600" cy="508000"/>
          </a:xfrm>
          <a:prstGeom prst="rect">
            <a:avLst/>
          </a:prstGeom>
          <a:noFill/>
        </p:spPr>
        <p:txBody>
          <a:bodyPr/>
          <a:lstStyle/>
          <a:p>
            <a:pPr lvl="0" indent="0" marL="0" algn="ctr">
              <a:buNone/>
            </a:pPr>
            <a:r>
              <a:rPr/>
              <a:t>Visualization of Complete Linkage</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Tidy Data Collected</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Let’s Look at the Code</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Our Results Visualized as a Dendrogram</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Group Recommendations and Student Assignment</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Evaluation Form (from Presenting Team)</a:t>
            </a:r>
          </a:p>
        </p:txBody>
      </p:sp>
      <p:sp>
        <p:nvSpPr>
          <p:cNvPr id="3" name="Content Placeholder 2"/>
          <p:cNvSpPr>
            <a:spLocks noGrp="1"/>
          </p:cNvSpPr>
          <p:nvPr>
            <p:ph idx="1" sz="half"/>
          </p:nvPr>
        </p:nvSpPr>
        <p:spPr/>
        <p:txBody>
          <a:bodyPr/>
          <a:lstStyle/>
          <a:p>
            <a:pPr lvl="0" indent="0" marL="0">
              <a:buNone/>
            </a:pPr>
            <a:r>
              <a:rPr/>
              <a:t>Feedback from the evaluation form will be anonymous, however the results will help us all improve future iterations of our model generalized to all students. ** Ask Rosanna if she wants to share the results to them later on **</a:t>
            </a:r>
          </a:p>
        </p:txBody>
      </p:sp>
      <p:pic>
        <p:nvPicPr>
          <p:cNvPr descr="presentation_files/figure-pptx/cell-4-output-1.png" id="0" name="Picture 1"/>
          <p:cNvPicPr>
            <a:picLocks noGrp="1" noChangeAspect="1"/>
          </p:cNvPicPr>
          <p:nvPr/>
        </p:nvPicPr>
        <p:blipFill>
          <a:blip r:embed="rId2"/>
          <a:stretch>
            <a:fillRect/>
          </a:stretch>
        </p:blipFill>
        <p:spPr bwMode="auto">
          <a:xfrm>
            <a:off x="4978400" y="1193800"/>
            <a:ext cx="3390900" cy="3390900"/>
          </a:xfrm>
          <a:prstGeom prst="rect">
            <a:avLst/>
          </a:prstGeom>
          <a:noFill/>
          <a:ln w="9525">
            <a:noFill/>
            <a:headEnd/>
            <a:tailEnd/>
          </a:ln>
        </p:spPr>
      </p:pic>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Credits</a:t>
            </a:r>
          </a:p>
        </p:txBody>
      </p:sp>
      <p:sp>
        <p:nvSpPr>
          <p:cNvPr id="3" name="Content Placeholder 2"/>
          <p:cNvSpPr>
            <a:spLocks noGrp="1"/>
          </p:cNvSpPr>
          <p:nvPr>
            <p:ph idx="1"/>
          </p:nvPr>
        </p:nvSpPr>
        <p:spPr/>
        <p:txBody>
          <a:bodyPr/>
          <a:lstStyle/>
          <a:p>
            <a:pPr lvl="0"/>
            <a:r>
              <a:rPr/>
              <a:t>Presented by Team Machines:</a:t>
            </a:r>
          </a:p>
          <a:p>
            <a:pPr lvl="1"/>
            <a:r>
              <a:rPr/>
              <a:t>Anthony Wolfe - Project Coordinator</a:t>
            </a:r>
          </a:p>
          <a:p>
            <a:pPr lvl="1"/>
            <a:r>
              <a:rPr/>
              <a:t>Dean Callahan - Technical Lead</a:t>
            </a:r>
          </a:p>
          <a:p>
            <a:pPr lvl="1"/>
            <a:r>
              <a:rPr/>
              <a:t>Jonathan Juarez - Data Scientist</a:t>
            </a:r>
          </a:p>
          <a:p>
            <a:pPr lvl="1"/>
            <a:r>
              <a:rPr/>
              <a:t>Devon Walker - Data Scientist</a:t>
            </a:r>
          </a:p>
          <a:p>
            <a:pPr lvl="0"/>
            <a:r>
              <a:rPr/>
              <a:t>Data and Question Design By: Team SARA</a:t>
            </a:r>
          </a:p>
          <a:p>
            <a:pPr lvl="0"/>
            <a:r>
              <a:rPr/>
              <a:t>Distance and Clustering By: Team Errors</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Study Group Recommender with Machine Learning</dc:title>
  <dc:creator/>
  <cp:keywords/>
  <dcterms:created xsi:type="dcterms:W3CDTF">2026-02-24T20:38:08Z</dcterms:created>
  <dcterms:modified xsi:type="dcterms:W3CDTF">2026-02-24T20:38:08Z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biblio-config">
    <vt:lpwstr>True</vt:lpwstr>
  </property>
  <property fmtid="{D5CDD505-2E9C-101B-9397-08002B2CF9AE}" pid="3" name="execute">
    <vt:lpwstr/>
  </property>
  <property fmtid="{D5CDD505-2E9C-101B-9397-08002B2CF9AE}" pid="4" name="header-includes">
    <vt:lpwstr/>
  </property>
  <property fmtid="{D5CDD505-2E9C-101B-9397-08002B2CF9AE}" pid="5" name="include-after">
    <vt:lpwstr/>
  </property>
  <property fmtid="{D5CDD505-2E9C-101B-9397-08002B2CF9AE}" pid="6" name="include-before">
    <vt:lpwstr/>
  </property>
  <property fmtid="{D5CDD505-2E9C-101B-9397-08002B2CF9AE}" pid="7" name="jupyter">
    <vt:lpwstr>python3</vt:lpwstr>
  </property>
  <property fmtid="{D5CDD505-2E9C-101B-9397-08002B2CF9AE}" pid="8" name="labels">
    <vt:lpwstr/>
  </property>
  <property fmtid="{D5CDD505-2E9C-101B-9397-08002B2CF9AE}" pid="9" name="subtitle">
    <vt:lpwstr>Developed: by class of DATA322 Presented: by Team Machines</vt:lpwstr>
  </property>
  <property fmtid="{D5CDD505-2E9C-101B-9397-08002B2CF9AE}" pid="10" name="toc-title">
    <vt:lpwstr>Table of contents</vt:lpwstr>
  </property>
</Properties>
</file>